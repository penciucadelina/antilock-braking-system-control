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7"/>
  </p:notesMasterIdLst>
  <p:handoutMasterIdLst>
    <p:handoutMasterId r:id="rId18"/>
  </p:handoutMasterIdLst>
  <p:sldIdLst>
    <p:sldId id="320" r:id="rId5"/>
    <p:sldId id="317" r:id="rId6"/>
    <p:sldId id="315" r:id="rId7"/>
    <p:sldId id="323" r:id="rId8"/>
    <p:sldId id="260" r:id="rId9"/>
    <p:sldId id="318" r:id="rId10"/>
    <p:sldId id="321" r:id="rId11"/>
    <p:sldId id="268" r:id="rId12"/>
    <p:sldId id="324" r:id="rId13"/>
    <p:sldId id="325" r:id="rId14"/>
    <p:sldId id="326" r:id="rId15"/>
    <p:sldId id="32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60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03-Jun-25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03-Jun-25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879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23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40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84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03-Jun-25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03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326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611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3826740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641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28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10" r:id="rId12"/>
    <p:sldLayoutId id="2147483711" r:id="rId13"/>
    <p:sldLayoutId id="2147483712" r:id="rId14"/>
    <p:sldLayoutId id="2147483714" r:id="rId15"/>
    <p:sldLayoutId id="2147483715" r:id="rId16"/>
    <p:sldLayoutId id="2147483716" r:id="rId17"/>
    <p:sldLayoutId id="2147483717" r:id="rId18"/>
    <p:sldLayoutId id="2147483672" r:id="rId19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839" y="539676"/>
            <a:ext cx="7996986" cy="2996901"/>
          </a:xfrm>
        </p:spPr>
        <p:txBody>
          <a:bodyPr anchor="b">
            <a:normAutofit/>
          </a:bodyPr>
          <a:lstStyle/>
          <a:p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Controlul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Antiblocare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(ABS) </a:t>
            </a:r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metoda</a:t>
            </a:r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 </a:t>
            </a:r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169459" y="4288771"/>
            <a:ext cx="7659688" cy="1639275"/>
          </a:xfrm>
        </p:spPr>
        <p:txBody>
          <a:bodyPr>
            <a:normAutofit fontScale="92500" lnSpcReduction="10000"/>
          </a:bodyPr>
          <a:lstStyle/>
          <a:p>
            <a: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Nume: Penciuc </a:t>
            </a:r>
            <a:b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Prenume: Andreea – Adelina </a:t>
            </a:r>
            <a:b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Grupa: 30133/2</a:t>
            </a:r>
          </a:p>
          <a:p>
            <a:r>
              <a:rPr lang="it-IT" sz="2000" dirty="0">
                <a:solidFill>
                  <a:schemeClr val="tx1">
                    <a:lumMod val="95000"/>
                    <a:lumOff val="5000"/>
                    <a:alpha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universitar: 2024-2025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  <a:alpha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3EE966-8387-41DB-9610-26E25646553A}"/>
              </a:ext>
            </a:extLst>
          </p:cNvPr>
          <p:cNvSpPr txBox="1"/>
          <p:nvPr/>
        </p:nvSpPr>
        <p:spPr>
          <a:xfrm>
            <a:off x="3325906" y="5107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 </a:t>
            </a:r>
            <a:r>
              <a:rPr lang="en-U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Obiective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1034E-7DF2-4F42-86CD-41CD97598923}"/>
              </a:ext>
            </a:extLst>
          </p:cNvPr>
          <p:cNvSpPr txBox="1"/>
          <p:nvPr/>
        </p:nvSpPr>
        <p:spPr>
          <a:xfrm>
            <a:off x="282389" y="1618720"/>
            <a:ext cx="1162722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urmareste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dezvoltarea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regulator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avansat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control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ABS, cu accent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mentinerea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 zona optima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0.8).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pierderii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directiei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atingerea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caruia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regulator de tip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MPC (Model Predictive Control).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77105-938C-4BB9-A81B-EE65DED99AC8}"/>
              </a:ext>
            </a:extLst>
          </p:cNvPr>
          <p:cNvSpPr txBox="1"/>
          <p:nvPr/>
        </p:nvSpPr>
        <p:spPr>
          <a:xfrm>
            <a:off x="5074022" y="3823447"/>
            <a:ext cx="6777319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Obiective</a:t>
            </a:r>
            <a:endParaRPr lang="en-US" sz="32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Intelegerea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principiului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Construirea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realist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regulator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alunecarii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MATLAB/Simulink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performantelor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61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0E87E5-1D41-4ED0-A1B8-B2142BE7A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392" y="2758322"/>
            <a:ext cx="7202539" cy="36639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5E7419-D348-46E4-9264-C198F793F8BC}"/>
              </a:ext>
            </a:extLst>
          </p:cNvPr>
          <p:cNvSpPr txBox="1"/>
          <p:nvPr/>
        </p:nvSpPr>
        <p:spPr>
          <a:xfrm>
            <a:off x="3343834" y="112790"/>
            <a:ext cx="78396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Despre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7BE015-587A-4C3B-AEF5-E20EF32080C2}"/>
              </a:ext>
            </a:extLst>
          </p:cNvPr>
          <p:cNvSpPr txBox="1"/>
          <p:nvPr/>
        </p:nvSpPr>
        <p:spPr>
          <a:xfrm>
            <a:off x="425489" y="6422254"/>
            <a:ext cx="48090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Echipamentul ABS produs de Inteco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651CF-82E9-438C-B234-480DAD0EA42D}"/>
              </a:ext>
            </a:extLst>
          </p:cNvPr>
          <p:cNvSpPr txBox="1"/>
          <p:nvPr/>
        </p:nvSpPr>
        <p:spPr>
          <a:xfrm>
            <a:off x="6819898" y="6422254"/>
            <a:ext cx="6145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Interfata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Software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Inteco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9" name="Picture 2" descr="The ABS laboratory setup [11]. Source: Inteco Manual [11]. | Download  Scientific Diagram">
            <a:extLst>
              <a:ext uri="{FF2B5EF4-FFF2-40B4-BE49-F238E27FC236}">
                <a16:creationId xmlns:a16="http://schemas.microsoft.com/office/drawing/2014/main" id="{0CBD3089-A66C-460C-A131-4CD1659BA2F0}"/>
              </a:ext>
            </a:extLst>
          </p:cNvPr>
          <p:cNvPicPr>
            <a:picLocks noGrp="1" noChangeAspect="1" noChangeArrowheads="1"/>
          </p:cNvPicPr>
          <p:nvPr>
            <p:ph sz="half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r="4880" b="1"/>
          <a:stretch>
            <a:fillRect/>
          </a:stretch>
        </p:blipFill>
        <p:spPr bwMode="auto">
          <a:xfrm>
            <a:off x="1024002" y="2846028"/>
            <a:ext cx="2423124" cy="357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1E18D7-0211-4898-8D9D-B2BA00DD1B09}"/>
              </a:ext>
            </a:extLst>
          </p:cNvPr>
          <p:cNvSpPr txBox="1"/>
          <p:nvPr/>
        </p:nvSpPr>
        <p:spPr>
          <a:xfrm>
            <a:off x="129655" y="678778"/>
            <a:ext cx="118023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antiblocare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puternice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pastreze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asupra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directiei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stabilitatea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masinii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suprafete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alunecoase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ajustari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astfel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 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blocheze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ramana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zona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aderenta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maxima.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meu am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software de la INTECO,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roti – una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un motor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carosabilul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cealalta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vehiculului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ABS-ul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roti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tractiunea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FDDC-930E-43DD-98E5-3906B11B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024" y="-374047"/>
            <a:ext cx="11539976" cy="1112836"/>
          </a:xfrm>
        </p:spPr>
        <p:txBody>
          <a:bodyPr>
            <a:normAutofit fontScale="90000"/>
          </a:bodyPr>
          <a:lstStyle/>
          <a:p>
            <a:r>
              <a:rPr lang="en-U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Despre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Blocul</a:t>
            </a: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 din Simulation Control Experiment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CE977-59FA-4436-A031-AE5A601E7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711" y="2506241"/>
            <a:ext cx="5585713" cy="30787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2C4015-FBC9-4B60-A671-5A21327CB115}"/>
              </a:ext>
            </a:extLst>
          </p:cNvPr>
          <p:cNvSpPr txBox="1"/>
          <p:nvPr/>
        </p:nvSpPr>
        <p:spPr>
          <a:xfrm>
            <a:off x="107576" y="1995093"/>
            <a:ext cx="65442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Intrare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Brake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(0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 =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maxima) - u ∈ [0,1].</a:t>
            </a:r>
          </a:p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Iesiri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Wheel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pozitia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unghiulara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vehiculului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supusa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Car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pozitia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unghiulara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carosabilul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VWheel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unghiulara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•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VCar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unghiulara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Slip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alunecarii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 ∈ [0,1]);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marimea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trebuie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optima am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fiind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0.8.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M1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cuplul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mu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coeficientul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dintre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suprafata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contact;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Normal Force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vertical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Friction Force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efectiva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–drum.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6208D-C163-41F4-8FFD-C3086697E1EF}"/>
              </a:ext>
            </a:extLst>
          </p:cNvPr>
          <p:cNvSpPr txBox="1"/>
          <p:nvPr/>
        </p:nvSpPr>
        <p:spPr>
          <a:xfrm>
            <a:off x="107576" y="905276"/>
            <a:ext cx="118266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prezentata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anterior, in Simulation Control Experiment,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disponibil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bloc ABS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echipamentului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iesiri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pot fi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control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monitorizarea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real.</a:t>
            </a:r>
          </a:p>
        </p:txBody>
      </p:sp>
    </p:spTree>
    <p:extLst>
      <p:ext uri="{BB962C8B-B14F-4D97-AF65-F5344CB8AC3E}">
        <p14:creationId xmlns:p14="http://schemas.microsoft.com/office/powerpoint/2010/main" val="105986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7" y="-306453"/>
            <a:ext cx="11047042" cy="117081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Identificarea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BF0D10-DE6D-4022-8175-3519EE40A1FA}"/>
              </a:ext>
            </a:extLst>
          </p:cNvPr>
          <p:cNvSpPr txBox="1"/>
          <p:nvPr/>
        </p:nvSpPr>
        <p:spPr>
          <a:xfrm>
            <a:off x="95739" y="595232"/>
            <a:ext cx="12176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prima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obtinerea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fidel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obtinute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semnal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tip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treapta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am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model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Output-Error (OE)+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algoritmul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PEM (Prediction Error Minimization).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s-a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experimental,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potrivire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buna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solida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777B41-EF12-44EE-A856-1B532478E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9" y="2423614"/>
            <a:ext cx="4400981" cy="3521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C1253C-CA0D-4CC6-BD66-DFB746219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83" y="3357282"/>
            <a:ext cx="4448141" cy="34155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03C11B-E648-46F2-B3F2-3CF52FEF3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5632" y="2296938"/>
            <a:ext cx="4170629" cy="362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900A-321E-9B5B-1413-B314F2F3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301" y="-515620"/>
            <a:ext cx="8467760" cy="118504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Predictive 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BB4A4-D537-456E-B427-1705E4480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006" y="872474"/>
            <a:ext cx="4456809" cy="2995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40690-EB20-4CBF-8781-C33387937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85" y="3383847"/>
            <a:ext cx="4741750" cy="3110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C5E351-DC51-415B-8762-319C20FF3C75}"/>
              </a:ext>
            </a:extLst>
          </p:cNvPr>
          <p:cNvSpPr txBox="1"/>
          <p:nvPr/>
        </p:nvSpPr>
        <p:spPr>
          <a:xfrm>
            <a:off x="277908" y="872474"/>
            <a:ext cx="70283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Predictive Control (MPC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tehnica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control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inteligent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prezice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viitor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iesirilor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moment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rezolvarea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în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vedere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obiectivul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dorit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prima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secventa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adaptandu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dinamic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curente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23E85-1748-41BC-BDC9-C3E4AF1A2BD8}"/>
              </a:ext>
            </a:extLst>
          </p:cNvPr>
          <p:cNvSpPr txBox="1"/>
          <p:nvPr/>
        </p:nvSpPr>
        <p:spPr>
          <a:xfrm>
            <a:off x="5315310" y="4231200"/>
            <a:ext cx="67326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orizontul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P,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iesirii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cercuri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albe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setpoint-ul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punctata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orizontala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acelasi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orizontul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control M,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secventa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comenzi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neagra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punctata),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dintre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prima.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esantion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reface,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recente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date. </a:t>
            </a:r>
          </a:p>
        </p:txBody>
      </p:sp>
    </p:spTree>
    <p:extLst>
      <p:ext uri="{BB962C8B-B14F-4D97-AF65-F5344CB8AC3E}">
        <p14:creationId xmlns:p14="http://schemas.microsoft.com/office/powerpoint/2010/main" val="24096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8C0A-F532-87F9-2318-0570ADF1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398" y="-214475"/>
            <a:ext cx="11047042" cy="1185045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Configurarea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regulatorului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35205-10F2-457C-8DA9-8D56B8C10219}"/>
              </a:ext>
            </a:extLst>
          </p:cNvPr>
          <p:cNvSpPr txBox="1"/>
          <p:nvPr/>
        </p:nvSpPr>
        <p:spPr>
          <a:xfrm>
            <a:off x="703627" y="1213659"/>
            <a:ext cx="11340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MATLAB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urmatorii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2653B8-3B46-4193-9638-8B7E786F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282" y="1993421"/>
            <a:ext cx="2071734" cy="18639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D52C3C-EE7E-45F4-BCED-096677667EDF}"/>
              </a:ext>
            </a:extLst>
          </p:cNvPr>
          <p:cNvSpPr txBox="1"/>
          <p:nvPr/>
        </p:nvSpPr>
        <p:spPr>
          <a:xfrm>
            <a:off x="4052047" y="2103079"/>
            <a:ext cx="81399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Orizont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30 -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anticiparea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termen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scurt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Orizont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3 -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echilibru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efort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franei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variația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comenzii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0.3 -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asigura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control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salturi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bruste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Pondere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iesire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urmareste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precizie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(slip = 0.8)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comandă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 ≤ u ≤ 1 -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frânei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3608C-6A69-43F0-A5FF-40DC3491538F}"/>
              </a:ext>
            </a:extLst>
          </p:cNvPr>
          <p:cNvSpPr txBox="1"/>
          <p:nvPr/>
        </p:nvSpPr>
        <p:spPr>
          <a:xfrm>
            <a:off x="703626" y="4423659"/>
            <a:ext cx="549098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Simulare in bucla inchisa</a:t>
            </a:r>
          </a:p>
          <a:p>
            <a:endParaRPr lang="it-IT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 apoi, s-a implementat o simulare in care:</a:t>
            </a: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la fiecare moment se citeste starea sistemului; </a:t>
            </a: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 calculeaza comanda optima folosind mpcmove;</a:t>
            </a: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comanda se aplica si se actualizeaza starile; </a:t>
            </a:r>
          </a:p>
          <a:p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 retine rezultatul (slip-ul controlat).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15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3E6EC-4CFB-4DEA-AFF2-D0BA683914ED}"/>
              </a:ext>
            </a:extLst>
          </p:cNvPr>
          <p:cNvSpPr txBox="1"/>
          <p:nvPr/>
        </p:nvSpPr>
        <p:spPr>
          <a:xfrm>
            <a:off x="1496754" y="264442"/>
            <a:ext cx="88123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32019-D12B-4B52-A4DE-91EEEE3FB436}"/>
              </a:ext>
            </a:extLst>
          </p:cNvPr>
          <p:cNvSpPr txBox="1"/>
          <p:nvPr/>
        </p:nvSpPr>
        <p:spPr>
          <a:xfrm>
            <a:off x="124157" y="1637891"/>
            <a:ext cx="120562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Structura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simularii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setpoint-ul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0.8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-un factor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(0.7),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compensa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diferentele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model–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 MPC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corectata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curenta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optima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38047-3D17-4ABF-AC3E-88AAF1D83437}"/>
              </a:ext>
            </a:extLst>
          </p:cNvPr>
          <p:cNvSpPr txBox="1"/>
          <p:nvPr/>
        </p:nvSpPr>
        <p:spPr>
          <a:xfrm>
            <a:off x="124157" y="947898"/>
            <a:ext cx="12216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MATLAB/Simulink,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anterior.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C3FAA-D82A-4A5F-B52A-3A94F49351F0}"/>
              </a:ext>
            </a:extLst>
          </p:cNvPr>
          <p:cNvSpPr txBox="1"/>
          <p:nvPr/>
        </p:nvSpPr>
        <p:spPr>
          <a:xfrm>
            <a:off x="9028936" y="3575097"/>
            <a:ext cx="33961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Afisare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 Plot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afiseaza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interne ale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viteze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pozitii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forte).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Brake-Slip Plot –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evolutia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comenzii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rrspunsul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05C1D3-F609-4E88-BC89-4322FCAB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7" y="3312580"/>
            <a:ext cx="8688858" cy="337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606B-4796-42DD-824F-E908837E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645" y="-489141"/>
            <a:ext cx="10213200" cy="1112836"/>
          </a:xfrm>
        </p:spPr>
        <p:txBody>
          <a:bodyPr/>
          <a:lstStyle/>
          <a:p>
            <a:pPr algn="ctr"/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obtinute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2E7C0-BCDB-4C75-9665-BC6A40CEE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5" y="1245315"/>
            <a:ext cx="4605466" cy="3484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71209-9A76-4D6D-8AD3-EFAEF10E8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953" y="1217669"/>
            <a:ext cx="4782260" cy="35119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F1CAF6-BEE1-4AA3-AE92-8A7E8F74145D}"/>
              </a:ext>
            </a:extLst>
          </p:cNvPr>
          <p:cNvSpPr txBox="1"/>
          <p:nvPr/>
        </p:nvSpPr>
        <p:spPr>
          <a:xfrm>
            <a:off x="181536" y="69857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Raspunsul sistemului la semnal treapta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7716B-7F4F-486A-8C8D-9C98AB097F22}"/>
              </a:ext>
            </a:extLst>
          </p:cNvPr>
          <p:cNvSpPr txBox="1"/>
          <p:nvPr/>
        </p:nvSpPr>
        <p:spPr>
          <a:xfrm>
            <a:off x="904645" y="4981369"/>
            <a:ext cx="929669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Performantele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sub 0.4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secunde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Suprareglaj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(5%)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0.998 -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aproape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Eroare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neglijabila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precis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adecvat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control.</a:t>
            </a:r>
          </a:p>
        </p:txBody>
      </p:sp>
    </p:spTree>
    <p:extLst>
      <p:ext uri="{BB962C8B-B14F-4D97-AF65-F5344CB8AC3E}">
        <p14:creationId xmlns:p14="http://schemas.microsoft.com/office/powerpoint/2010/main" val="355275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EC39-2803-4CA3-A02E-02F7892C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0" y="-475735"/>
            <a:ext cx="10213200" cy="111283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Simularea controlului in bucla inchisa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146D3-15B7-4449-90C0-291E5904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906" y="722153"/>
            <a:ext cx="9274725" cy="4103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653DB-8998-4548-9E43-2599C4A48A2E}"/>
              </a:ext>
            </a:extLst>
          </p:cNvPr>
          <p:cNvSpPr txBox="1"/>
          <p:nvPr/>
        </p:nvSpPr>
        <p:spPr>
          <a:xfrm>
            <a:off x="959224" y="4891532"/>
            <a:ext cx="110176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obtinute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Slip-ul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urmareste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precizie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rapid,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oscilatii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treptat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franei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reactioneaza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rapid cu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comanda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puternica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apoi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ajusteaza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treptat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mentinand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zona optima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alunecare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339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7D86DE-A258-4DD8-9E08-D19DDE15E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6" y="1943102"/>
            <a:ext cx="5155515" cy="3843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4097D-EBBC-4B1F-A83E-B4EC1E016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087" y="1748794"/>
            <a:ext cx="6614307" cy="423197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D643D29-ED54-4515-B027-D4AC45149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03007" y="744570"/>
            <a:ext cx="104042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aplicarea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franei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vitezele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rotii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vehiculului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slip-ul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rapid,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apoi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stabilizeaza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Slip-ul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urmareste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referinta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(0.8) cu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abateri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ramanand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zona de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siguranta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reactioneaza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cu un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aproximativ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0.85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secunde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BE557-9DE0-4D35-B9DE-35D538E0E3B6}"/>
              </a:ext>
            </a:extLst>
          </p:cNvPr>
          <p:cNvSpPr txBox="1"/>
          <p:nvPr/>
        </p:nvSpPr>
        <p:spPr>
          <a:xfrm>
            <a:off x="2609240" y="1254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Rezultatele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din Simulink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AFE020-FF00-440E-94C4-91F230DD8EFE}"/>
              </a:ext>
            </a:extLst>
          </p:cNvPr>
          <p:cNvSpPr txBox="1"/>
          <p:nvPr/>
        </p:nvSpPr>
        <p:spPr>
          <a:xfrm>
            <a:off x="206500" y="6024702"/>
            <a:ext cx="1177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concluzie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MPC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reuseste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controleze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precis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alunecarea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pastrand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comportamentul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sigur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intreaga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durata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000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franarii</a:t>
            </a: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198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E03E4-6216-4EB2-999D-4B4C73D4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919" y="54286"/>
            <a:ext cx="10213200" cy="1112836"/>
          </a:xfrm>
        </p:spPr>
        <p:txBody>
          <a:bodyPr/>
          <a:lstStyle/>
          <a:p>
            <a:pPr algn="ctr"/>
            <a:r>
              <a:rPr lang="en-US" b="1" dirty="0" err="1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Concluzii</a:t>
            </a:r>
            <a:r>
              <a:rPr lang="en-US" b="1" dirty="0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b="1" dirty="0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contributie</a:t>
            </a:r>
            <a:r>
              <a:rPr lang="en-US" b="1" dirty="0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persoanala</a:t>
            </a:r>
            <a:endParaRPr lang="en-US" b="1" dirty="0">
              <a:latin typeface="Arial Rounded MT Bold" panose="020F07040305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E55DC-B210-436D-AF07-16EE54603597}"/>
              </a:ext>
            </a:extLst>
          </p:cNvPr>
          <p:cNvSpPr txBox="1"/>
          <p:nvPr/>
        </p:nvSpPr>
        <p:spPr>
          <a:xfrm>
            <a:off x="334976" y="1568911"/>
            <a:ext cx="1173151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Concluzii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folosind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model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obtinut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OE + PEM).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baza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acestui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model, s-a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regulator MPC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s-a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MATLAB/Simulink.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control precis al slip-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(0.8),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raspuns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comportament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clasice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MPC s-a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dovedit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eficient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datorita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capacitatii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anticipare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respectare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constrangerilor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buna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bucla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inchisa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661D9-D3AE-4E40-8831-5AC611B90E7B}"/>
              </a:ext>
            </a:extLst>
          </p:cNvPr>
          <p:cNvSpPr txBox="1"/>
          <p:nvPr/>
        </p:nvSpPr>
        <p:spPr>
          <a:xfrm>
            <a:off x="334976" y="4254407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Contributii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personale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Proiectarea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regulatorului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MPC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Simulink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Evaluarea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performantelor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simulari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214151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{6331F6EF-7AD1-4251-A851-9DF3A3C0DCFF}tf11158769_win32</Template>
  <TotalTime>253</TotalTime>
  <Words>1324</Words>
  <Application>Microsoft Office PowerPoint</Application>
  <PresentationFormat>Widescreen</PresentationFormat>
  <Paragraphs>101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Rounded MT Bold</vt:lpstr>
      <vt:lpstr>Avenir Next LT Pro</vt:lpstr>
      <vt:lpstr>Calibri</vt:lpstr>
      <vt:lpstr>Goudy Old Style</vt:lpstr>
      <vt:lpstr>Wingdings</vt:lpstr>
      <vt:lpstr>FrostyVTI</vt:lpstr>
      <vt:lpstr>Controlul Sistemului Antiblocare (ABS) folosind metoda MPC </vt:lpstr>
      <vt:lpstr>PowerPoint Presentation</vt:lpstr>
      <vt:lpstr>PowerPoint Presentation</vt:lpstr>
      <vt:lpstr>Despre Blocul ABS din Simulation Control Experiment</vt:lpstr>
      <vt:lpstr>Identificarea sistemului </vt:lpstr>
      <vt:lpstr> Model Predictive Control</vt:lpstr>
      <vt:lpstr>Configurarea regulatorului predictiv </vt:lpstr>
      <vt:lpstr>PowerPoint Presentation</vt:lpstr>
      <vt:lpstr>Rezultate obtinute</vt:lpstr>
      <vt:lpstr>Simularea controlului in bucla inchisa </vt:lpstr>
      <vt:lpstr> La aplicarea franei, vitezele rotii si ale vehiculului scad, iar slip-ul creste rapid, apoi se stabilizeaza.  Slip-ul urmareste referinta (0.8) cu mici abateri, ramanand in zona de siguranta.  Sistemul reactioneaza eficient si stabil, cu un timp de raspuns de aproximativ 0.85 secunde. </vt:lpstr>
      <vt:lpstr>Concluzii si contributie persoanala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Controlul Sistemului Antiblocare (ABS) folosind metoda MPC</dc:title>
  <dc:creator>Andreea Adelina Penciuc</dc:creator>
  <cp:lastModifiedBy>Andreea Adelina Penciuc</cp:lastModifiedBy>
  <cp:revision>27</cp:revision>
  <dcterms:created xsi:type="dcterms:W3CDTF">2025-06-02T18:51:58Z</dcterms:created>
  <dcterms:modified xsi:type="dcterms:W3CDTF">2025-06-03T02:12:28Z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